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011680"/>
            <a:ext cx="777240" cy="457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515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5512" b="1">
                <a:solidFill>
                  <a:srgbClr val="111418"/>
                </a:solidFill>
                <a:latin typeface="Noto Sans CJK SC"/>
                <a:ea typeface="Noto Sans CJK SC"/>
              </a:rPr>
              <a:t>跑 AI，第一步不是写代码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226" b="1">
                <a:solidFill>
                  <a:srgbClr val="5D6673"/>
                </a:solidFill>
                <a:latin typeface="Noto Sans CJK SC"/>
                <a:ea typeface="Noto Sans CJK SC"/>
              </a:rPr>
              <a:t>环境 → Agent → 本地模型 → 生成视频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B42318"/>
                </a:solidFill>
                <a:latin typeface="Noto Sans CJK SC"/>
                <a:ea typeface="Noto Sans CJK SC"/>
              </a:rPr>
              <a:t>这里我讲的都是我做过的。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120640"/>
            <a:ext cx="1042416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5D6673"/>
                </a:solidFill>
                <a:latin typeface="Noto Sans CJK SC"/>
                <a:ea typeface="Noto Sans CJK SC"/>
              </a:rPr>
              <a:t>计算机通识课 · 小组展示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3492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5D6673"/>
                </a:solidFill>
                <a:latin typeface="Noto Sans CJK SC"/>
                <a:ea typeface="Noto Sans CJK SC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498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72" b="1">
                <a:solidFill>
                  <a:srgbClr val="B42318"/>
                </a:solidFill>
                <a:latin typeface="Noto Sans Mono CJK SC"/>
                <a:ea typeface="Noto Sans Mono CJK SC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604" b="1">
                <a:solidFill>
                  <a:srgbClr val="111418"/>
                </a:solidFill>
                <a:latin typeface="Noto Sans CJK SC"/>
                <a:ea typeface="Noto Sans CJK SC"/>
              </a:rPr>
              <a:t>四站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226" b="1">
                <a:solidFill>
                  <a:srgbClr val="0B6B5E"/>
                </a:solidFill>
                <a:latin typeface="Noto Sans Mono CJK SC"/>
                <a:ea typeface="Noto Sans Mono CJK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2219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226" b="1">
                <a:solidFill>
                  <a:srgbClr val="111418"/>
                </a:solidFill>
                <a:latin typeface="Noto Sans CJK SC"/>
                <a:ea typeface="Noto Sans CJK SC"/>
              </a:rPr>
              <a:t>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28600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31" b="1">
                <a:solidFill>
                  <a:srgbClr val="5D6673"/>
                </a:solidFill>
                <a:latin typeface="Noto Sans CJK SC"/>
                <a:ea typeface="Noto Sans CJK SC"/>
              </a:rPr>
              <a:t>AI 跑在哪，为什么是 Linux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98648"/>
            <a:ext cx="914400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226" b="1">
                <a:solidFill>
                  <a:srgbClr val="0B6B5E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2783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226" b="1">
                <a:solidFill>
                  <a:srgbClr val="111418"/>
                </a:solidFill>
                <a:latin typeface="Noto Sans CJK SC"/>
                <a:ea typeface="Noto Sans CJK SC"/>
              </a:rPr>
              <a:t>上手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29184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31" b="1">
                <a:solidFill>
                  <a:srgbClr val="5D6673"/>
                </a:solidFill>
                <a:latin typeface="Noto Sans CJK SC"/>
                <a:ea typeface="Noto Sans CJK SC"/>
              </a:rPr>
              <a:t>装系统，跑起第一个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904488"/>
            <a:ext cx="914400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226" b="1">
                <a:solidFill>
                  <a:srgbClr val="0B6B5E"/>
                </a:solidFill>
                <a:latin typeface="Noto Sans Mono CJK SC"/>
                <a:ea typeface="Noto Sans Mono CJK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2336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226" b="1">
                <a:solidFill>
                  <a:srgbClr val="111418"/>
                </a:solidFill>
                <a:latin typeface="Noto Sans CJK SC"/>
                <a:ea typeface="Noto Sans CJK SC"/>
              </a:rPr>
              <a:t>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29768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31" b="1">
                <a:solidFill>
                  <a:srgbClr val="5D6673"/>
                </a:solidFill>
                <a:latin typeface="Noto Sans CJK SC"/>
                <a:ea typeface="Noto Sans CJK SC"/>
              </a:rPr>
              <a:t>怎么选；用组员的语料训一个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910328"/>
            <a:ext cx="914400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226" b="1">
                <a:solidFill>
                  <a:srgbClr val="0B6B5E"/>
                </a:solidFill>
                <a:latin typeface="Noto Sans Mono CJK SC"/>
                <a:ea typeface="Noto Sans Mono CJK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23951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226" b="1">
                <a:solidFill>
                  <a:srgbClr val="111418"/>
                </a:solidFill>
                <a:latin typeface="Noto Sans CJK SC"/>
                <a:ea typeface="Noto Sans CJK SC"/>
              </a:rPr>
              <a:t>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30352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31" b="1">
                <a:solidFill>
                  <a:srgbClr val="5D6673"/>
                </a:solidFill>
                <a:latin typeface="Noto Sans CJK SC"/>
                <a:ea typeface="Noto Sans CJK SC"/>
              </a:rPr>
              <a:t>一句话，一条视频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916168"/>
            <a:ext cx="914400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计算机通识课 · 小组展示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从一个最容易被忽略的问题开始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你以为它在你电脑里？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2332" b="1">
                <a:solidFill>
                  <a:srgbClr val="111418"/>
                </a:solidFill>
                <a:latin typeface="Noto Sans CJK SC"/>
                <a:ea typeface="Noto Sans CJK SC"/>
              </a:rPr>
              <a:t>我打开网页、打一句话，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2332" b="1">
                <a:solidFill>
                  <a:srgbClr val="111418"/>
                </a:solidFill>
                <a:latin typeface="Noto Sans CJK SC"/>
                <a:ea typeface="Noto Sans CJK SC"/>
              </a:rPr>
              <a:t>真正在算的那台机器，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2332" b="1">
                <a:solidFill>
                  <a:srgbClr val="111418"/>
                </a:solidFill>
                <a:latin typeface="Noto Sans CJK SC"/>
                <a:ea typeface="Noto Sans CJK SC"/>
              </a:rPr>
              <a:t>不在这台电脑上。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11880"/>
            <a:ext cx="502920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5876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5D6673"/>
                </a:solidFill>
                <a:latin typeface="Noto Sans CJK SC"/>
                <a:ea typeface="Noto Sans CJK SC"/>
              </a:rPr>
              <a:t>一次训练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80390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014" b="1">
                <a:solidFill>
                  <a:srgbClr val="0B6B5E"/>
                </a:solidFill>
                <a:latin typeface="Noto Sans CJK SC"/>
                <a:ea typeface="Noto Sans CJK SC"/>
              </a:rPr>
              <a:t>几周不停机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1713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5D6673"/>
                </a:solidFill>
                <a:latin typeface="Noto Sans CJK SC"/>
                <a:ea typeface="Noto Sans CJK SC"/>
              </a:rPr>
              <a:t>一台集群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46227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014" b="1">
                <a:solidFill>
                  <a:srgbClr val="0B6B5E"/>
                </a:solidFill>
                <a:latin typeface="Noto Sans CJK SC"/>
                <a:ea typeface="Noto Sans CJK SC"/>
              </a:rPr>
              <a:t>上万张卡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7550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5D6673"/>
                </a:solidFill>
                <a:latin typeface="Noto Sans CJK SC"/>
                <a:ea typeface="Noto Sans CJK SC"/>
              </a:rPr>
              <a:t>一张卡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1206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014" b="1">
                <a:solidFill>
                  <a:srgbClr val="0B6B5E"/>
                </a:solidFill>
                <a:latin typeface="Noto Sans CJK SC"/>
                <a:ea typeface="Noto Sans CJK SC"/>
              </a:rPr>
              <a:t>几十 GB 显存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799" y="2054004"/>
            <a:ext cx="5120640" cy="2932871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查看当前显存占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19" y="2099724"/>
            <a:ext cx="5029200" cy="28414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6520" y="530352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19" b="1">
                <a:solidFill>
                  <a:srgbClr val="9AA3AE"/>
                </a:solidFill>
                <a:latin typeface="Noto Sans CJK SC"/>
                <a:ea typeface="Noto Sans CJK SC"/>
              </a:rPr>
              <a:t>我自己这台：12 GB 显存，跑一个 3B 模型吃掉 6.2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01 · 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那这些机器，跑什么系统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答案是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014" b="1">
                <a:solidFill>
                  <a:srgbClr val="5D6673"/>
                </a:solidFill>
                <a:latin typeface="Noto Sans CJK SC"/>
                <a:ea typeface="Noto Sans CJK SC"/>
              </a:rPr>
              <a:t>不是 Windows，也不是 macOS。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70048"/>
            <a:ext cx="512064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2014" b="1">
                <a:solidFill>
                  <a:srgbClr val="111418"/>
                </a:solidFill>
                <a:latin typeface="Noto Sans CJK SC"/>
                <a:ea typeface="Noto Sans CJK SC"/>
              </a:rPr>
              <a:t>全球最快的 500 台超级计算机（TOP500），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2014" b="1">
                <a:solidFill>
                  <a:srgbClr val="111418"/>
                </a:solidFill>
                <a:latin typeface="Noto Sans CJK SC"/>
                <a:ea typeface="Noto Sans CJK SC"/>
              </a:rPr>
              <a:t>从 2017 年起全部运行 Linux。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13568" b="1">
                <a:solidFill>
                  <a:srgbClr val="0B6B5E"/>
                </a:solidFill>
                <a:latin typeface="Noto Sans CJK SC"/>
                <a:ea typeface="Noto Sans CJK SC"/>
              </a:rPr>
              <a:t>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2014" b="1">
                <a:solidFill>
                  <a:srgbClr val="5D6673"/>
                </a:solidFill>
                <a:latin typeface="Noto Sans CJK SC"/>
                <a:ea typeface="Noto Sans CJK SC"/>
              </a:rPr>
              <a:t>台 / 全部 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663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1166" b="1">
                <a:solidFill>
                  <a:srgbClr val="9AA3AE"/>
                </a:solidFill>
                <a:latin typeface="Noto Sans CJK SC"/>
                <a:ea typeface="Noto Sans CJK SC"/>
              </a:rPr>
              <a:t>数据来源：top500.org 的 OS 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01 · 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四条硬理由，不是情怀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为什么偏偏是它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166360" cy="1828800"/>
          </a:xfrm>
          <a:prstGeom prst="round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85415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544" b="1">
                <a:solidFill>
                  <a:srgbClr val="0B6B5E"/>
                </a:solidFill>
                <a:latin typeface="Noto Sans CJK SC"/>
                <a:ea typeface="Noto Sans CJK SC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03704"/>
            <a:ext cx="3931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802" b="1">
                <a:solidFill>
                  <a:srgbClr val="111418"/>
                </a:solidFill>
                <a:latin typeface="Noto Sans CJK SC"/>
                <a:ea typeface="Noto Sans CJK SC"/>
              </a:rPr>
              <a:t>不收授权费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52344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Windows 按核心卖授权。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集群规模下这笔账很吓人。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166360" cy="1828800"/>
          </a:xfrm>
          <a:prstGeom prst="round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185415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544" b="1">
                <a:solidFill>
                  <a:srgbClr val="0B6B5E"/>
                </a:solidFill>
                <a:latin typeface="Noto Sans CJK SC"/>
                <a:ea typeface="Noto Sans CJK S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203704"/>
            <a:ext cx="3931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802" b="1">
                <a:solidFill>
                  <a:srgbClr val="111418"/>
                </a:solidFill>
                <a:latin typeface="Noto Sans CJK SC"/>
                <a:ea typeface="Noto Sans CJK SC"/>
              </a:rPr>
              <a:t>内核开源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752344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能按负载裁剪、打补丁、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换调度策略。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166360" cy="1828800"/>
          </a:xfrm>
          <a:prstGeom prst="round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42816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544" b="1">
                <a:solidFill>
                  <a:srgbClr val="0B6B5E"/>
                </a:solidFill>
                <a:latin typeface="Noto Sans CJK SC"/>
                <a:ea typeface="Noto Sans CJK SC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61104"/>
            <a:ext cx="3931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802" b="1">
                <a:solidFill>
                  <a:srgbClr val="111418"/>
                </a:solidFill>
                <a:latin typeface="Noto Sans CJK SC"/>
                <a:ea typeface="Noto Sans CJK SC"/>
              </a:rPr>
              <a:t>稳定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09744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训练动辄几周，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一次意外重启就是几千 GPU·小时。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23360"/>
            <a:ext cx="5166360" cy="1828800"/>
          </a:xfrm>
          <a:prstGeom prst="round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4242816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544" b="1">
                <a:solidFill>
                  <a:srgbClr val="0B6B5E"/>
                </a:solidFill>
                <a:latin typeface="Noto Sans CJK SC"/>
                <a:ea typeface="Noto Sans CJK SC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261104"/>
            <a:ext cx="3931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802" b="1">
                <a:solidFill>
                  <a:srgbClr val="111418"/>
                </a:solidFill>
                <a:latin typeface="Noto Sans CJK SC"/>
                <a:ea typeface="Noto Sans CJK SC"/>
              </a:rPr>
              <a:t>CUDA 长在它上面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809744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Windows 想跑，</a:t>
            </a:r>
          </a:p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中间还得套一层 WSL2。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01 · 环境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插两个故事，说明这事不是一步到位的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微软：从“癌症”到请进家门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B42318"/>
                </a:solidFill>
                <a:latin typeface="Noto Sans Mono CJK SC"/>
                <a:ea typeface="Noto Sans Mono CJK SC"/>
              </a:rPr>
              <a:t>2001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5212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802" b="1">
                <a:solidFill>
                  <a:srgbClr val="111418"/>
                </a:solidFill>
                <a:latin typeface="Noto Sans CJK SC"/>
                <a:ea typeface="Noto Sans CJK SC"/>
              </a:rPr>
              <a:t>时任 CEO 鲍尔默在采访里说：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802" b="1">
                <a:solidFill>
                  <a:srgbClr val="111418"/>
                </a:solidFill>
                <a:latin typeface="Noto Sans CJK SC"/>
                <a:ea typeface="Noto Sans CJK SC"/>
              </a:rPr>
              <a:t/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802" b="1">
                <a:solidFill>
                  <a:srgbClr val="111418"/>
                </a:solidFill>
                <a:latin typeface="Noto Sans CJK SC"/>
                <a:ea typeface="Noto Sans CJK SC"/>
              </a:rPr>
              <a:t>“Linux 是一种癌症，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802" b="1">
                <a:solidFill>
                  <a:srgbClr val="111418"/>
                </a:solidFill>
                <a:latin typeface="Noto Sans CJK SC"/>
                <a:ea typeface="Noto Sans CJK SC"/>
              </a:rPr>
              <a:t>在知识产权意义上附着于它触碰的一切。”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512064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07408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590" b="1">
                <a:solidFill>
                  <a:srgbClr val="111418"/>
                </a:solidFill>
                <a:latin typeface="Noto Sans CJK SC"/>
                <a:ea typeface="Noto Sans CJK SC"/>
              </a:rPr>
              <a:t>Windows 10 内置了真正的 Linux 内核：WSL2。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590" b="1">
                <a:solidFill>
                  <a:srgbClr val="111418"/>
                </a:solidFill>
                <a:latin typeface="Noto Sans CJK SC"/>
                <a:ea typeface="Noto Sans CJK SC"/>
              </a:rPr>
              <a:t>不是模拟，是同一个内核跑在 Windows 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12508" b="1">
                <a:solidFill>
                  <a:srgbClr val="0B6B5E"/>
                </a:solidFill>
                <a:latin typeface="Noto Sans CJK SC"/>
                <a:ea typeface="Noto Sans CJK SC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11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2120" b="1">
                <a:solidFill>
                  <a:srgbClr val="5D6673"/>
                </a:solidFill>
                <a:latin typeface="Noto Sans CJK SC"/>
                <a:ea typeface="Noto Sans CJK SC"/>
              </a:rPr>
              <a:t>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9768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484" b="1">
                <a:solidFill>
                  <a:srgbClr val="5D6673"/>
                </a:solidFill>
                <a:latin typeface="Noto Sans CJK SC"/>
                <a:ea typeface="Noto Sans CJK SC"/>
              </a:rPr>
              <a:t>从“癌症”到官方支持</a:t>
            </a:r>
          </a:p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484" b="1">
                <a:solidFill>
                  <a:srgbClr val="5D6673"/>
                </a:solidFill>
                <a:latin typeface="Noto Sans CJK SC"/>
                <a:ea typeface="Noto Sans CJK SC"/>
              </a:rPr>
              <a:t>中间隔了十八年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01 · 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B42318"/>
                </a:solidFill>
                <a:latin typeface="Noto Sans Mono CJK SC"/>
                <a:ea typeface="Noto Sans Mono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第二个故事，我接到了自己的机器上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英伟达：从竖中指到主动开源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5D6673"/>
                </a:solidFill>
                <a:latin typeface="Noto Sans Mono CJK SC"/>
                <a:ea typeface="Noto Sans Mono CJK SC"/>
              </a:rPr>
              <a:t>2012 · 芬兰 Aalto 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696" b="1">
                <a:solidFill>
                  <a:srgbClr val="111418"/>
                </a:solidFill>
                <a:latin typeface="Noto Sans CJK SC"/>
                <a:ea typeface="Noto Sans CJK SC"/>
              </a:rPr>
              <a:t>有人问 Linux 之父 Linus：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696" b="1">
                <a:solidFill>
                  <a:srgbClr val="111418"/>
                </a:solidFill>
                <a:latin typeface="Noto Sans CJK SC"/>
                <a:ea typeface="Noto Sans CJK SC"/>
              </a:rPr>
              <a:t>英伟达在 Linux 上支持得怎么样？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5852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696" b="1">
                <a:solidFill>
                  <a:srgbClr val="111418"/>
                </a:solidFill>
                <a:latin typeface="Noto Sans CJK SC"/>
                <a:ea typeface="Noto Sans CJK SC"/>
              </a:rPr>
              <a:t>他说：那是我们打过交道最烂的一家公司。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696" b="1">
                <a:solidFill>
                  <a:srgbClr val="111418"/>
                </a:solidFill>
                <a:latin typeface="Noto Sans CJK SC"/>
                <a:ea typeface="Noto Sans CJK SC"/>
              </a:rPr>
              <a:t>然后补了一句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5852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756" b="1">
                <a:solidFill>
                  <a:srgbClr val="B42318"/>
                </a:solidFill>
                <a:latin typeface="Noto Sans CJK SC"/>
                <a:ea typeface="Noto Sans CJK SC"/>
              </a:rPr>
              <a:t>“So, NVIDIA, f*** you!”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484" b="1">
                <a:solidFill>
                  <a:srgbClr val="5D6673"/>
                </a:solidFill>
                <a:latin typeface="Noto Sans CJK SC"/>
                <a:ea typeface="Noto Sans CJK SC"/>
              </a:rPr>
              <a:t>2022 年，英伟达开源了 GPU 内核模块；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484" b="1">
                <a:solidFill>
                  <a:srgbClr val="5D6673"/>
                </a:solidFill>
                <a:latin typeface="Noto Sans CJK SC"/>
                <a:ea typeface="Noto Sans CJK SC"/>
              </a:rPr>
              <a:t>2024 年起，开源模块成为官方默认。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74863" y="1965960"/>
            <a:ext cx="4475432" cy="2560320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inux草英伟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583" y="2011680"/>
            <a:ext cx="4383992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0" y="4800600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431" b="1">
                <a:solidFill>
                  <a:srgbClr val="B42318"/>
                </a:solidFill>
                <a:latin typeface="Noto Sans CJK SC"/>
                <a:ea typeface="Noto Sans CJK SC"/>
              </a:rPr>
              <a:t>十三年后，我在自己机器上装驱动，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431" b="1">
                <a:solidFill>
                  <a:srgbClr val="B42318"/>
                </a:solidFill>
                <a:latin typeface="Noto Sans CJK SC"/>
                <a:ea typeface="Noto Sans CJK SC"/>
              </a:rPr>
              <a:t>必须选带 -open 的那个版本 ——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431" b="1">
                <a:solidFill>
                  <a:srgbClr val="B42318"/>
                </a:solidFill>
                <a:latin typeface="Noto Sans CJK SC"/>
                <a:ea typeface="Noto Sans CJK SC"/>
              </a:rPr>
              <a:t>选错直接黑屏。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01 · 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为什么 Agent 也挑系统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它干活靠的是“闭环”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696" b="1">
                <a:solidFill>
                  <a:srgbClr val="111418"/>
                </a:solidFill>
                <a:latin typeface="Noto Sans CJK SC"/>
                <a:ea typeface="Noto Sans CJK SC"/>
              </a:rPr>
              <a:t>Agent 的一天：读输出 → 敲命令 → 看退出码 → 决定下一步。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502920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0B6B5E"/>
                </a:solidFill>
                <a:latin typeface="Noto Sans CJK SC"/>
                <a:ea typeface="Noto Sans CJK SC"/>
              </a:rPr>
              <a:t>Linux / macOS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5701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一切皆文本：管道、退出码、everything is a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B42318"/>
                </a:solidFill>
                <a:latin typeface="Noto Sans CJK SC"/>
                <a:ea typeface="Noto Sans CJK SC"/>
              </a:rPr>
              <a:t>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001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几十年兼容性债：编码、路径分隔符、GUI 依赖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6006" y="1965960"/>
            <a:ext cx="4490227" cy="3383279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终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726" y="2011680"/>
            <a:ext cx="4398787" cy="3291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5440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9AA3AE"/>
                </a:solidFill>
                <a:latin typeface="Noto Sans CJK SC"/>
                <a:ea typeface="Noto Sans CJK SC"/>
              </a:rPr>
              <a:t>命令行里，输入和输出都是确定的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02 · 上手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两条路，选一条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怎么装一个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166360" cy="3200400"/>
          </a:xfrm>
          <a:prstGeom prst="round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0B6B5E"/>
                </a:solidFill>
                <a:latin typeface="Noto Sans CJK SC"/>
                <a:ea typeface="Noto Sans CJK SC"/>
              </a:rPr>
              <a:t>方案一 · 最快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42032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332" b="1">
                <a:solidFill>
                  <a:srgbClr val="111418"/>
                </a:solidFill>
                <a:latin typeface="Noto Sans CJK SC"/>
                <a:ea typeface="Noto Sans CJK SC"/>
              </a:rPr>
              <a:t>WSL2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434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在 Windows 里一行命令装好。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/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大多数人的选择。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480560"/>
            <a:ext cx="4434840" cy="457200"/>
          </a:xfrm>
          <a:prstGeom prst="roundRect">
            <a:avLst/>
          </a:prstGeom>
          <a:solidFill>
            <a:srgbClr val="FBFAF7"/>
          </a:solidFill>
          <a:ln w="9525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>
                <a:solidFill>
                  <a:srgbClr val="0B6B5E"/>
                </a:solidFill>
                <a:latin typeface="Noto Sans Mono CJK SC"/>
                <a:ea typeface="Noto Sans Mono CJK SC"/>
              </a:rPr>
              <a:t>wsl --install -d Ubuntu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5960"/>
            <a:ext cx="5166360" cy="3200400"/>
          </a:xfrm>
          <a:prstGeom prst="round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0B6B5E"/>
                </a:solidFill>
                <a:latin typeface="Noto Sans CJK SC"/>
                <a:ea typeface="Noto Sans CJK SC"/>
              </a:rPr>
              <a:t>方案二 · 我选的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42032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2332" b="1">
                <a:solidFill>
                  <a:srgbClr val="111418"/>
                </a:solidFill>
                <a:latin typeface="Noto Sans CJK SC"/>
                <a:ea typeface="Noto Sans CJK SC"/>
              </a:rPr>
              <a:t>真机 Ubuntu 24.04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00400"/>
            <a:ext cx="4434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Ventoy 做启动盘，从 U 盘装。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/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我想要完整的 Linux 和完整的性能释放。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480560"/>
            <a:ext cx="4434840" cy="457200"/>
          </a:xfrm>
          <a:prstGeom prst="roundRect">
            <a:avLst/>
          </a:prstGeom>
          <a:solidFill>
            <a:srgbClr val="FBFAF7"/>
          </a:solidFill>
          <a:ln w="9525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>
                <a:solidFill>
                  <a:srgbClr val="0B6B5E"/>
                </a:solidFill>
                <a:latin typeface="Noto Sans Mono CJK SC"/>
                <a:ea typeface="Noto Sans Mono CJK SC"/>
              </a:rPr>
              <a:t>ubuntu-24.04.1.iso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没选 26.04：版本太新，跨了大版本，对新硬件和第三方驱动的磨合还不充分。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02 · 上手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B42318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书上不会写，只有自己装才知道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挑几个我碰到的坑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B42318"/>
                </a:solidFill>
                <a:latin typeface="Noto Sans Mono CJK SC"/>
                <a:ea typeface="Noto Sans Mono CJK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9384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43" b="1">
                <a:solidFill>
                  <a:srgbClr val="111418"/>
                </a:solidFill>
                <a:latin typeface="Noto Sans CJK SC"/>
                <a:ea typeface="Noto Sans CJK SC"/>
              </a:rPr>
              <a:t>镜像站全军覆没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50008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清华、阿里、中科大、南大、网易都没下成，最后用 BT 种子。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4495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B42318"/>
                </a:solidFill>
                <a:latin typeface="Noto Sans Mono CJK SC"/>
                <a:ea typeface="Noto Sans Mono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08376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43" b="1">
                <a:solidFill>
                  <a:srgbClr val="111418"/>
                </a:solidFill>
                <a:latin typeface="Noto Sans CJK SC"/>
                <a:ea typeface="Noto Sans CJK SC"/>
              </a:rPr>
              <a:t>盘是 MBR，只能 4 个主分区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29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建到第五个就失败，转成 GPT 才解决。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2394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B42318"/>
                </a:solidFill>
                <a:latin typeface="Noto Sans Mono CJK SC"/>
                <a:ea typeface="Noto Sans Mono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8736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43" b="1">
                <a:solidFill>
                  <a:srgbClr val="111418"/>
                </a:solidFill>
                <a:latin typeface="Noto Sans CJK SC"/>
                <a:ea typeface="Noto Sans CJK SC"/>
              </a:rPr>
              <a:t>幽灵分区，Next 永远是灰的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07992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删了又有。最后放弃独立 /home，直接擦盘装。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02936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B42318"/>
                </a:solidFill>
                <a:latin typeface="Noto Sans Mono CJK SC"/>
                <a:ea typeface="Noto Sans Mono CJK S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166359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43" b="1">
                <a:solidFill>
                  <a:srgbClr val="111418"/>
                </a:solidFill>
                <a:latin typeface="Noto Sans CJK SC"/>
                <a:ea typeface="Noto Sans CJK SC"/>
              </a:rPr>
              <a:t>Wayland 上各种怪问题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86983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改 gdm 配置永久禁用，切到 Xorg。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052044"/>
            <a:ext cx="4617720" cy="3485431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有奇怪的幽灵分区和不让我点击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97764"/>
            <a:ext cx="4526280" cy="33939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49440" y="57607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66" b="1">
                <a:solidFill>
                  <a:srgbClr val="9AA3AE"/>
                </a:solidFill>
                <a:latin typeface="Noto Sans CJK SC"/>
                <a:ea typeface="Noto Sans CJK SC"/>
              </a:rPr>
              <a:t>那个删不掉、又让 Next 变灰的分区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02 · 上手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以 DeepSeek 的 dsh 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四步跑起第一个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Mono CJK SC"/>
                <a:ea typeface="Noto Sans Mono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7510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111418"/>
                </a:solidFill>
                <a:latin typeface="Noto Sans CJK SC"/>
                <a:ea typeface="Noto Sans CJK SC"/>
              </a:rPr>
              <a:t>去 GitHub 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客户端，或者直接跑终端版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8094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111418"/>
                </a:solidFill>
                <a:latin typeface="Noto Sans CJK SC"/>
                <a:ea typeface="Noto Sans CJK SC"/>
              </a:rPr>
              <a:t>配环境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按文档一步步来，缺什么装什么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Mono CJK SC"/>
                <a:ea typeface="Noto Sans Mono CJK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8678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111418"/>
                </a:solidFill>
                <a:latin typeface="Noto Sans CJK SC"/>
                <a:ea typeface="Noto Sans CJK SC"/>
              </a:rPr>
              <a:t>填密钥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开放平台充值后申请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Mono CJK SC"/>
                <a:ea typeface="Noto Sans Mono CJK S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926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96" b="1">
                <a:solidFill>
                  <a:srgbClr val="111418"/>
                </a:solidFill>
                <a:latin typeface="Noto Sans CJK SC"/>
                <a:ea typeface="Noto Sans CJK SC"/>
              </a:rPr>
              <a:t>设工作区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9496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给它一个目录，它就在里面干活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9636" y="1920240"/>
            <a:ext cx="3888647" cy="3474720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sh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356" y="1965960"/>
            <a:ext cx="3797207" cy="3383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26480" y="54864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9AA3AE"/>
                </a:solidFill>
                <a:latin typeface="Noto Sans CJK SC"/>
                <a:ea typeface="Noto Sans CJK SC"/>
              </a:rPr>
              <a:t>它不是聊天框，是一个能动手的终端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02 · 上手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B42318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这是我用几个月换来的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人应该明白自己要去哪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90" b="1">
                <a:solidFill>
                  <a:srgbClr val="111418"/>
                </a:solidFill>
                <a:latin typeface="Noto Sans CJK SC"/>
                <a:ea typeface="Noto Sans CJK SC"/>
              </a:rPr>
              <a:t>不要什么都听 AI —— 它经常自己也不知道要去哪。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5059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CJK SC"/>
                <a:ea typeface="Noto Sans CJK SC"/>
              </a:rPr>
              <a:t>我负责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4688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5D6673"/>
                </a:solidFill>
                <a:latin typeface="Noto Sans CJK SC"/>
                <a:ea typeface="Noto Sans CJK SC"/>
              </a:rPr>
              <a:t>知道要做什么、判断这一步对不对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3639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CJK SC"/>
                <a:ea typeface="Noto Sans CJK SC"/>
              </a:rPr>
              <a:t>AI 负责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1546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5D6673"/>
                </a:solidFill>
                <a:latin typeface="Noto Sans CJK SC"/>
                <a:ea typeface="Noto Sans CJK SC"/>
              </a:rPr>
              <a:t>查语法、盯报错、把活干出来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B42318"/>
                </a:solidFill>
                <a:latin typeface="Noto Sans CJK SC"/>
                <a:ea typeface="Noto Sans CJK SC"/>
              </a:rPr>
              <a:t>分界点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84047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5D6673"/>
                </a:solidFill>
                <a:latin typeface="Noto Sans CJK SC"/>
                <a:ea typeface="Noto Sans CJK SC"/>
              </a:rPr>
              <a:t>它说“做好了”，我怎么验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98848"/>
            <a:ext cx="566928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2686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07" b="0">
                <a:solidFill>
                  <a:srgbClr val="9AA3AE"/>
                </a:solidFill>
                <a:latin typeface="Noto Sans CJK SC"/>
                <a:ea typeface="Noto Sans CJK SC"/>
              </a:rPr>
              <a:t>它自己的复盘（原文）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28032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07" b="0">
                <a:solidFill>
                  <a:srgbClr val="111418"/>
                </a:solidFill>
                <a:latin typeface="Noto Sans CJK SC"/>
                <a:ea typeface="Noto Sans CJK SC"/>
              </a:rPr>
              <a:t>「漏掉了 shift，错位一格 —— 模型被训成复读自己，最后坍缩成一直吐换行。」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07" b="0">
                <a:solidFill>
                  <a:srgbClr val="111418"/>
                </a:solidFill>
                <a:latin typeface="Noto Sans CJK SC"/>
                <a:ea typeface="Noto Sans CJK SC"/>
              </a:rPr>
              <a:t>「四个适配器全废，约 40 分钟 GPU 白烧。」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007" b="0">
                <a:solidFill>
                  <a:srgbClr val="111418"/>
                </a:solidFill>
                <a:latin typeface="Noto Sans CJK SC"/>
                <a:ea typeface="Noto Sans CJK SC"/>
              </a:rPr>
              <a:t>「验证用的参照也是我自己写的、同样没 shift。两边错得一样，差值 0，测试全绿。」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31" b="1">
                <a:solidFill>
                  <a:srgbClr val="B42318"/>
                </a:solidFill>
                <a:latin typeface="Noto Sans CJK SC"/>
                <a:ea typeface="Noto Sans CJK SC"/>
              </a:rPr>
              <a:t>自造的参照，不能当参照。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40924" y="1600199"/>
            <a:ext cx="3868991" cy="4480560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我骂dsh那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644" y="1645919"/>
            <a:ext cx="3777551" cy="4389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75120" y="614476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1113" b="0">
                <a:solidFill>
                  <a:srgbClr val="9AA3AE"/>
                </a:solidFill>
                <a:latin typeface="Noto Sans CJK SC"/>
                <a:ea typeface="Noto Sans CJK SC"/>
              </a:rPr>
              <a:t>真事，没改一个字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02 · 上手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用得久了才总结出来的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先给它写好规矩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0B6B5E"/>
                </a:solidFill>
                <a:latin typeface="Noto Sans Mono CJK SC"/>
                <a:ea typeface="Noto Sans Mono CJK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9339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111418"/>
                </a:solidFill>
                <a:latin typeface="Noto Sans CJK SC"/>
                <a:ea typeface="Noto Sans CJK SC"/>
              </a:rPr>
              <a:t>AGENT.md 自己起草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14016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它每次开始前先读，省得反复解释同一件事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3580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0B6B5E"/>
                </a:solidFill>
                <a:latin typeface="Noto Sans Mono CJK SC"/>
                <a:ea typeface="Noto Sans Mono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9923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111418"/>
                </a:solidFill>
                <a:latin typeface="Noto Sans CJK SC"/>
                <a:ea typeface="Noto Sans CJK SC"/>
              </a:rPr>
              <a:t>禁止提权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19856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要 sudo、要 GPU 我自己来，让它别问也别试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0B6B5E"/>
                </a:solidFill>
                <a:latin typeface="Noto Sans Mono CJK SC"/>
                <a:ea typeface="Noto Sans Mono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050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111418"/>
                </a:solidFill>
                <a:latin typeface="Noto Sans CJK SC"/>
                <a:ea typeface="Noto Sans CJK SC"/>
              </a:rPr>
              <a:t>禁止不解释就动手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25696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“为你好”式的自作主张最烧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0B6B5E"/>
                </a:solidFill>
                <a:latin typeface="Noto Sans Mono CJK SC"/>
                <a:ea typeface="Noto Sans Mono CJK S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1091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111418"/>
                </a:solidFill>
                <a:latin typeface="Noto Sans CJK SC"/>
                <a:ea typeface="Noto Sans CJK SC"/>
              </a:rPr>
              <a:t>东西分类放，别堆根目录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31536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该进哪个文件夹，写进规矩里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9024" y="1600200"/>
            <a:ext cx="4544111" cy="4663440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我的AGENT.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744" y="1645920"/>
            <a:ext cx="4452671" cy="457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02 · 上手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B42318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这几条是花钱换来的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别让 token 白烧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B42318"/>
                </a:solidFill>
                <a:latin typeface="Noto Sans Mono CJK SC"/>
                <a:ea typeface="Noto Sans Mono CJK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7510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111418"/>
                </a:solidFill>
                <a:latin typeface="Noto Sans CJK SC"/>
                <a:ea typeface="Noto Sans CJK SC"/>
              </a:rPr>
              <a:t>让它写带标签的日志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9572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jsonl 一行一条，日后能查“当时怎么解决的”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B42318"/>
                </a:solidFill>
                <a:latin typeface="Noto Sans Mono CJK SC"/>
                <a:ea typeface="Noto Sans Mono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8094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111418"/>
                </a:solidFill>
                <a:latin typeface="Noto Sans CJK SC"/>
                <a:ea typeface="Noto Sans CJK SC"/>
              </a:rPr>
              <a:t>写完脚本先 shellcheck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0156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自动查错，少一轮返工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B42318"/>
                </a:solidFill>
                <a:latin typeface="Noto Sans Mono CJK SC"/>
                <a:ea typeface="Noto Sans Mono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8678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111418"/>
                </a:solidFill>
                <a:latin typeface="Noto Sans CJK SC"/>
                <a:ea typeface="Noto Sans CJK SC"/>
              </a:rPr>
              <a:t>不相关的问题开新会话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0740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上下文污染是最大的漏口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B42318"/>
                </a:solidFill>
                <a:latin typeface="Noto Sans Mono CJK SC"/>
                <a:ea typeface="Noto Sans Mono CJK S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9262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111418"/>
                </a:solidFill>
                <a:latin typeface="Noto Sans CJK SC"/>
                <a:ea typeface="Noto Sans CJK SC"/>
              </a:rPr>
              <a:t>上下文别乱改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132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前缀一变，服务器上的缓存全部作废，整段重算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9915" y="1645919"/>
            <a:ext cx="5073768" cy="4617720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我的日志工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635" y="1691639"/>
            <a:ext cx="4982328" cy="4526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02 · 上手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B42318"/>
                </a:solidFill>
                <a:latin typeface="Noto Sans Mono CJK SC"/>
                <a:ea typeface="Noto Sans Mono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这是我现在的判断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会读，比会写更重要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0B6B5E"/>
                </a:solidFill>
                <a:latin typeface="Noto Sans Mono CJK SC"/>
                <a:ea typeface="Noto Sans Mono CJK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938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43" b="1">
                <a:solidFill>
                  <a:srgbClr val="111418"/>
                </a:solidFill>
                <a:latin typeface="Noto Sans CJK SC"/>
                <a:ea typeface="Noto Sans CJK SC"/>
              </a:rPr>
              <a:t>能外包的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86584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66" b="1">
                <a:solidFill>
                  <a:srgbClr val="5D6673"/>
                </a:solidFill>
                <a:latin typeface="Noto Sans CJK SC"/>
                <a:ea typeface="Noto Sans CJK SC"/>
              </a:rPr>
              <a:t>一辈子只用一两次的活：写脚本、查语法、搭环境，交给它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B42318"/>
                </a:solidFill>
                <a:latin typeface="Noto Sans Mono CJK SC"/>
                <a:ea typeface="Noto Sans Mono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7238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43" b="1">
                <a:solidFill>
                  <a:srgbClr val="111418"/>
                </a:solidFill>
                <a:latin typeface="Noto Sans CJK SC"/>
                <a:ea typeface="Noto Sans CJK SC"/>
              </a:rPr>
              <a:t>必须自己会的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29584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66" b="1">
                <a:solidFill>
                  <a:srgbClr val="5D6673"/>
                </a:solidFill>
                <a:latin typeface="Noto Sans CJK SC"/>
                <a:ea typeface="Noto Sans CJK SC"/>
              </a:rPr>
              <a:t>基础和底层。那起银行案：AI 帮他们进去了，自己的服务器却裸奔，信息一起公开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0B6B5E"/>
                </a:solidFill>
                <a:latin typeface="Noto Sans Mono CJK SC"/>
                <a:ea typeface="Noto Sans Mono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1538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643" b="1">
                <a:solidFill>
                  <a:srgbClr val="111418"/>
                </a:solidFill>
                <a:latin typeface="Noto Sans CJK SC"/>
                <a:ea typeface="Noto Sans CJK SC"/>
              </a:rPr>
              <a:t>最值钱的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72584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166" b="1">
                <a:solidFill>
                  <a:srgbClr val="5D6673"/>
                </a:solidFill>
                <a:latin typeface="Noto Sans CJK SC"/>
                <a:ea typeface="Noto Sans CJK SC"/>
              </a:rPr>
              <a:t>文档和 git。“当时怎么解决的”要自己留着 —— 代码会随需求变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68112"/>
            <a:ext cx="640080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32704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72" b="1">
                <a:solidFill>
                  <a:srgbClr val="0B6B5E"/>
                </a:solidFill>
                <a:latin typeface="Noto Sans CJK SC"/>
                <a:ea typeface="Noto Sans CJK SC"/>
              </a:rPr>
              <a:t>知识要广，领域要交叉 —— AI 越强，这一点越重要。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4587" y="1554480"/>
            <a:ext cx="3750344" cy="4663440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f0485929e84247872282e52e8ab755135463838186886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307" y="1600200"/>
            <a:ext cx="3658904" cy="4572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35240" y="621792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954" b="0">
                <a:solidFill>
                  <a:srgbClr val="9AA3AE"/>
                </a:solidFill>
                <a:latin typeface="Noto Sans CJK SC"/>
                <a:ea typeface="Noto Sans CJK SC"/>
              </a:rPr>
              <a:t>网传梗图（虚构），说的是那起案子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02 · 上手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跑分之外，我还会看几个维度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怎么选模型，怎么配框架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37" b="1">
                <a:solidFill>
                  <a:srgbClr val="0B6B5E"/>
                </a:solidFill>
                <a:latin typeface="Noto Sans CJK SC"/>
                <a:ea typeface="Noto Sans CJK SC"/>
              </a:rPr>
              <a:t>跑分王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9385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66" b="1">
                <a:solidFill>
                  <a:srgbClr val="5D6673"/>
                </a:solidFill>
                <a:latin typeface="Noto Sans CJK SC"/>
                <a:ea typeface="Noto Sans CJK SC"/>
              </a:rPr>
              <a:t>榜单第一，实际不一定可靠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37" b="1">
                <a:solidFill>
                  <a:srgbClr val="0B6B5E"/>
                </a:solidFill>
                <a:latin typeface="Noto Sans CJK SC"/>
                <a:ea typeface="Noto Sans CJK SC"/>
              </a:rPr>
              <a:t>性价比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651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66" b="1">
                <a:solidFill>
                  <a:srgbClr val="5D6673"/>
                </a:solidFill>
                <a:latin typeface="Noto Sans CJK SC"/>
                <a:ea typeface="Noto Sans CJK SC"/>
              </a:rPr>
              <a:t>能力和价格之比，我最常看这个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4670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37" b="1">
                <a:solidFill>
                  <a:srgbClr val="0B6B5E"/>
                </a:solidFill>
                <a:latin typeface="Noto Sans CJK SC"/>
                <a:ea typeface="Noto Sans CJK SC"/>
              </a:rPr>
              <a:t>旗舰的代价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3649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66" b="1">
                <a:solidFill>
                  <a:srgbClr val="5D6673"/>
                </a:solidFill>
                <a:latin typeface="Noto Sans CJK SC"/>
                <a:ea typeface="Noto Sans CJK SC"/>
              </a:rPr>
              <a:t>更强，但更慢、更贵，或限制地区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59935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37" b="1">
                <a:solidFill>
                  <a:srgbClr val="0B6B5E"/>
                </a:solidFill>
                <a:latin typeface="Noto Sans CJK SC"/>
                <a:ea typeface="Noto Sans CJK SC"/>
              </a:rPr>
              <a:t>多模态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078223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66" b="1">
                <a:solidFill>
                  <a:srgbClr val="5D6673"/>
                </a:solidFill>
                <a:latin typeface="Noto Sans CJK SC"/>
                <a:ea typeface="Noto Sans CJK SC"/>
              </a:rPr>
              <a:t>能不能看图、听声音、出视频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29200"/>
            <a:ext cx="502920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72" b="1">
                <a:solidFill>
                  <a:srgbClr val="111418"/>
                </a:solidFill>
                <a:latin typeface="Noto Sans CJK SC"/>
                <a:ea typeface="Noto Sans CJK SC"/>
              </a:rPr>
              <a:t>框架跟着主力模型走：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72" b="1">
                <a:solidFill>
                  <a:srgbClr val="111418"/>
                </a:solidFill>
                <a:latin typeface="Noto Sans CJK SC"/>
                <a:ea typeface="Noto Sans CJK SC"/>
              </a:rPr>
              <a:t>用谁家的模型，就用它配套的框架。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0696" y="1645920"/>
            <a:ext cx="5215087" cy="3977639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S开放平台-裁剪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416" y="1691640"/>
            <a:ext cx="5123647" cy="3886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5650992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1166" b="1">
                <a:solidFill>
                  <a:srgbClr val="0B6B5E"/>
                </a:solidFill>
                <a:latin typeface="Noto Sans CJK SC"/>
                <a:ea typeface="Noto Sans CJK SC"/>
              </a:rPr>
              <a:t>我自己的用量：近 30 天 18,355 次请求 · 26.4 亿 token · ¥235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03 · 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组员写语料用的东西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这个工具是我自己做的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0B6B5E"/>
                </a:solidFill>
                <a:latin typeface="Noto Sans Mono CJK SC"/>
                <a:ea typeface="Noto Sans Mono CJK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8105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111418"/>
                </a:solidFill>
                <a:latin typeface="Noto Sans CJK SC"/>
                <a:ea typeface="Noto Sans CJK SC"/>
              </a:rPr>
              <a:t>一问一答，多轮随便加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2128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一条样本想聊几轮都行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847088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0B6B5E"/>
                </a:solidFill>
                <a:latin typeface="Noto Sans Mono CJK SC"/>
                <a:ea typeface="Noto Sans Mono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7056" y="18105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111418"/>
                </a:solidFill>
                <a:latin typeface="Noto Sans CJK SC"/>
                <a:ea typeface="Noto Sans CJK SC"/>
              </a:rPr>
              <a:t>草稿存在浏览器里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22128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关掉页面，下次还在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847088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0B6B5E"/>
                </a:solidFill>
                <a:latin typeface="Noto Sans Mono CJK SC"/>
                <a:ea typeface="Noto Sans Mono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18105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111418"/>
                </a:solidFill>
                <a:latin typeface="Noto Sans CJK SC"/>
                <a:ea typeface="Noto Sans CJK SC"/>
              </a:rPr>
              <a:t>导出标准 JSONL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22128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直接喂训练脚本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984" y="1847088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0B6B5E"/>
                </a:solidFill>
                <a:latin typeface="Noto Sans Mono CJK SC"/>
                <a:ea typeface="Noto Sans Mono CJK S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18105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111418"/>
                </a:solidFill>
                <a:latin typeface="Noto Sans CJK SC"/>
                <a:ea typeface="Noto Sans CJK SC"/>
              </a:rPr>
              <a:t>单个 HTML 文件，双击就用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22128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13" b="0">
                <a:solidFill>
                  <a:srgbClr val="5D6673"/>
                </a:solidFill>
                <a:latin typeface="Noto Sans CJK SC"/>
                <a:ea typeface="Noto Sans CJK SC"/>
              </a:rPr>
              <a:t>不用装东西，不用联网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4078" y="2743200"/>
            <a:ext cx="9981922" cy="3383280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我的jsonl语料编辑工具-裁剪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798" y="2788920"/>
            <a:ext cx="9890482" cy="3291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03 · 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训完之后，它现在这样说话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它自己回的话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590" b="1">
                <a:solidFill>
                  <a:srgbClr val="111418"/>
                </a:solidFill>
                <a:latin typeface="Noto Sans CJK SC"/>
                <a:ea typeface="Noto Sans CJK SC"/>
              </a:rPr>
              <a:t>右边是录屏，没剪辑。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590" b="1">
                <a:solidFill>
                  <a:srgbClr val="111418"/>
                </a:solidFill>
                <a:latin typeface="Noto Sans CJK SC"/>
                <a:ea typeface="Noto Sans CJK SC"/>
              </a:rPr>
              <a:t/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590" b="1">
                <a:solidFill>
                  <a:srgbClr val="111418"/>
                </a:solidFill>
                <a:latin typeface="Noto Sans CJK SC"/>
                <a:ea typeface="Noto Sans CJK SC"/>
              </a:rPr>
              <a:t>同一个问题问基座和微调后，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590" b="1">
                <a:solidFill>
                  <a:srgbClr val="111418"/>
                </a:solidFill>
                <a:latin typeface="Noto Sans CJK SC"/>
                <a:ea typeface="Noto Sans CJK SC"/>
              </a:rPr>
              <a:t>口气明显不一样。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11880"/>
            <a:ext cx="384048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22191"/>
            <a:ext cx="397763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傲娇腔是自己长出来的吗？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不是 —— 是组员在语料里这么写的。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/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模型学的是“这个上下文后面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该接什么话”。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67691" y="1773936"/>
            <a:ext cx="5415257" cy="4133088"/>
          </a:xfrm>
          <a:prstGeom prst="rect">
            <a:avLst/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模型对话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22555" y="1828800"/>
            <a:ext cx="5305529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22555" y="6035040"/>
            <a:ext cx="53055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1166" b="1">
                <a:solidFill>
                  <a:srgbClr val="9AA3AE"/>
                </a:solidFill>
                <a:latin typeface="Noto Sans CJK SC"/>
                <a:ea typeface="Noto Sans CJK SC"/>
              </a:rPr>
              <a:t>90 秒，随时可以暂停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03 · 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78" b="1">
                <a:solidFill>
                  <a:srgbClr val="0B6B5E"/>
                </a:solidFill>
                <a:latin typeface="Noto Sans Mono CJK SC"/>
                <a:ea typeface="Noto Sans Mono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75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19" b="1">
                <a:solidFill>
                  <a:srgbClr val="5D6673"/>
                </a:solidFill>
                <a:latin typeface="Noto Sans CJK SC"/>
                <a:ea typeface="Noto Sans CJK SC"/>
              </a:rPr>
              <a:t>最后一步：从文字到画面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782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816" b="1">
                <a:solidFill>
                  <a:srgbClr val="111418"/>
                </a:solidFill>
                <a:latin typeface="Noto Sans CJK SC"/>
                <a:ea typeface="Noto Sans CJK SC"/>
              </a:rPr>
              <a:t>一句话，一条视频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0" cy="36576"/>
          </a:xfrm>
          <a:prstGeom prst="rect">
            <a:avLst/>
          </a:prstGeom>
          <a:solidFill>
            <a:srgbClr val="0B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590" b="1">
                <a:solidFill>
                  <a:srgbClr val="111418"/>
                </a:solidFill>
                <a:latin typeface="Noto Sans CJK SC"/>
                <a:ea typeface="Noto Sans CJK SC"/>
              </a:rPr>
              <a:t>MiniMax H3 在我这台 12 GB 显存的机器上本地跑。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590" b="1">
                <a:solidFill>
                  <a:srgbClr val="111418"/>
                </a:solidFill>
                <a:latin typeface="Noto Sans CJK SC"/>
                <a:ea typeface="Noto Sans CJK SC"/>
              </a:rPr>
              <a:t>Agent 把一句话拆成结构化参数，再提交生成。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63824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CJK SC"/>
                <a:ea typeface="Noto Sans CJK SC"/>
              </a:rPr>
              <a:t>768×960，6.6 秒，24fps，带音轨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耗时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95344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CJK SC"/>
                <a:ea typeface="Noto Sans CJK SC"/>
              </a:rPr>
              <a:t>约 7 分钟一条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626864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CJK SC"/>
                <a:ea typeface="Noto Sans CJK SC"/>
              </a:rPr>
              <a:t>描述 → 参数 → 生成 → 发布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40680"/>
            <a:ext cx="512064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72" b="1">
                <a:solidFill>
                  <a:srgbClr val="5D6673"/>
                </a:solidFill>
                <a:latin typeface="Noto Sans CJK SC"/>
                <a:ea typeface="Noto Sans CJK SC"/>
              </a:rPr>
              <a:t>右边这条已经传到 B 站，课后能点开看。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9984" y="1591056"/>
            <a:ext cx="3547872" cy="4407408"/>
          </a:xfrm>
          <a:prstGeom prst="rect">
            <a:avLst/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生成视频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84848" y="1645920"/>
            <a:ext cx="3438144" cy="4297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4848" y="6126480"/>
            <a:ext cx="3438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Aft>
                <a:spcPts val="500"/>
              </a:spcAft>
            </a:pPr>
            <a:r>
              <a:rPr sz="1166" b="1">
                <a:solidFill>
                  <a:srgbClr val="9AA3AE"/>
                </a:solidFill>
                <a:latin typeface="Noto Sans CJK SC"/>
                <a:ea typeface="Noto Sans CJK SC"/>
              </a:rPr>
              <a:t>6.6 秒 · 带声音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04 · 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60120"/>
            <a:ext cx="777240" cy="457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70432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3392" b="1">
                <a:solidFill>
                  <a:srgbClr val="111418"/>
                </a:solidFill>
                <a:latin typeface="Noto Sans CJK SC"/>
                <a:ea typeface="Noto Sans CJK SC"/>
              </a:rPr>
              <a:t>起点是那门课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5D6673"/>
                </a:solidFill>
                <a:latin typeface="Noto Sans CJK SC"/>
                <a:ea typeface="Noto Sans CJK SC"/>
              </a:rPr>
              <a:t>MIT《The Missing Semester of Your CS Education》中文版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95728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90" b="1">
                <a:solidFill>
                  <a:srgbClr val="B42318"/>
                </a:solidFill>
                <a:latin typeface="Noto Sans CJK SC"/>
                <a:ea typeface="Noto Sans CJK SC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774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111418"/>
                </a:solidFill>
                <a:latin typeface="Noto Sans CJK SC"/>
                <a:ea typeface="Noto Sans CJK SC"/>
              </a:rPr>
              <a:t>讲的是课表上没有的东西：命令行、编辑器、版本控制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90" b="1">
                <a:solidFill>
                  <a:srgbClr val="B42318"/>
                </a:solidFill>
                <a:latin typeface="Noto Sans CJK SC"/>
                <a:ea typeface="Noto Sans CJK SC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9067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111418"/>
                </a:solidFill>
                <a:latin typeface="Noto Sans CJK SC"/>
                <a:ea typeface="Noto Sans CJK SC"/>
              </a:rPr>
              <a:t>全部免费公开，有中文翻译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22191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90" b="1">
                <a:solidFill>
                  <a:srgbClr val="B42318"/>
                </a:solidFill>
                <a:latin typeface="Noto Sans CJK SC"/>
                <a:ea typeface="Noto Sans CJK SC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0390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111418"/>
                </a:solidFill>
                <a:latin typeface="Noto Sans CJK SC"/>
                <a:ea typeface="Noto Sans CJK SC"/>
              </a:rPr>
              <a:t>我最早弄明白 ssh 到底在干什么，就是那一节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35424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590" b="1">
                <a:solidFill>
                  <a:srgbClr val="B42318"/>
                </a:solidFill>
                <a:latin typeface="Noto Sans CJK SC"/>
                <a:ea typeface="Noto Sans CJK S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1713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25" b="1">
                <a:solidFill>
                  <a:srgbClr val="111418"/>
                </a:solidFill>
                <a:latin typeface="Noto Sans CJK SC"/>
                <a:ea typeface="Noto Sans CJK SC"/>
              </a:rPr>
              <a:t>这门课教的是“怎么用工具”，不是“怎么背知识”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440680"/>
            <a:ext cx="5212080" cy="13716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84" b="1">
                <a:solidFill>
                  <a:srgbClr val="0B6B5E"/>
                </a:solidFill>
                <a:latin typeface="Noto Sans Mono CJK SC"/>
                <a:ea typeface="Noto Sans Mono CJK SC"/>
              </a:rPr>
              <a:t>https://missing-semester-cn.github.io/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3433" y="1508760"/>
            <a:ext cx="4721053" cy="4526279"/>
          </a:xfrm>
          <a:prstGeom prst="rect">
            <a:avLst/>
          </a:prstGeom>
          <a:solidFill>
            <a:srgbClr val="E9E6DF"/>
          </a:solidFill>
          <a:ln w="9525">
            <a:solidFill>
              <a:srgbClr val="D6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asted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153" y="1554480"/>
            <a:ext cx="4629613" cy="4434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谢 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2000"/>
              </a:lnSpc>
              <a:spcAft>
                <a:spcPts val="500"/>
              </a:spcAft>
            </a:pPr>
            <a:r>
              <a:rPr sz="1060" b="0">
                <a:solidFill>
                  <a:srgbClr val="9AA3AE"/>
                </a:solidFill>
                <a:latin typeface="Noto Sans CJK SC"/>
                <a:ea typeface="Noto Sans CJK SC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